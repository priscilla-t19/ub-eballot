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2801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0" b="1" i="0">
                <a:solidFill>
                  <a:srgbClr val="FFD700"/>
                </a:solidFill>
              </a:rPr>
              <a:t>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13716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0" b="1" i="0">
                <a:solidFill>
                  <a:srgbClr val="FFFFFF"/>
                </a:solidFill>
              </a:rPr>
              <a:t>eBallot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4D2FF"/>
                </a:solidFill>
              </a:rPr>
              <a:t>Secure Online Voting for UB SRC Elections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CAADC"/>
                </a:solidFill>
              </a:rPr>
              <a:t>Beta Version Presentation  •  University of Botswana  •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896C8"/>
                </a:solidFill>
              </a:rPr>
              <a:t>Built with Flask · PostgreSQL · AES-128 Encryption · HMAC-SHA256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4C8FF"/>
                </a:solidFill>
              </a:rPr>
              <a:t>Why UB SRC elections needed a digital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44752"/>
            <a:ext cx="1143000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C8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904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1E1E"/>
                </a:solidFill>
              </a:rPr>
              <a:t>✗  Paper ballots are slow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490472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E6E6E"/>
                </a:solidFill>
              </a:rPr>
              <a:t>Counting is manual, error-prone, and takes hours after polling closes.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59152"/>
            <a:ext cx="1143000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C8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04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1E1E"/>
                </a:solidFill>
              </a:rPr>
              <a:t>✗  No way to verify your vote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404872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E6E6E"/>
                </a:solidFill>
              </a:rPr>
              <a:t>Once a ballot is in the box there is no receipt and no way to confirm it was counted.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73552"/>
            <a:ext cx="1143000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C8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192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1E1E"/>
                </a:solidFill>
              </a:rPr>
              <a:t>✗  Voter identity is hard to enforce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319272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E6E6E"/>
                </a:solidFill>
              </a:rPr>
              <a:t>Preventing impersonation or double-voting relies entirely on manual checks.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87952"/>
            <a:ext cx="1143000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C8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336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1E1E"/>
                </a:solidFill>
              </a:rPr>
              <a:t>✗  Low turnout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233672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E6E6E"/>
                </a:solidFill>
              </a:rPr>
              <a:t>Students must be physically present on campus — a barrier for many eligible voters.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102352"/>
            <a:ext cx="11430000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C8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1480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1E1E"/>
                </a:solidFill>
              </a:rPr>
              <a:t>✗  Results are opaque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5148072"/>
            <a:ext cx="6492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E6E6E"/>
                </a:solidFill>
              </a:rPr>
              <a:t>The counting process is not independently verifiable by the student body.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Solution  —  UB eBallot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4C8FF"/>
                </a:solidFill>
              </a:rPr>
              <a:t>A secure, anonymous, and verifiable online voting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2651760" cy="4983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2651760" cy="411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Secure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23232"/>
                </a:solidFill>
              </a:rPr>
              <a:t>End-to-end AES-128 encryption. Student numbers are never stored alongside votes. Every admin action is logged in an audit trail.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7832" y="1463040"/>
            <a:ext cx="2651760" cy="4983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7832" y="1463040"/>
            <a:ext cx="2651760" cy="41148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Anonymous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201168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23232"/>
                </a:solidFill>
              </a:rPr>
              <a:t>Votes are separated from identity using a one-way HMAC-SHA256 token. Not even administrators can link a ballot to a specific voter.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463040"/>
            <a:ext cx="2651760" cy="4983480"/>
          </a:xfrm>
          <a:prstGeom prst="rect">
            <a:avLst/>
          </a:prstGeom>
          <a:solidFill>
            <a:srgbClr val="FFFFFF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463040"/>
            <a:ext cx="2651760" cy="411480"/>
          </a:xfrm>
          <a:prstGeom prst="rect">
            <a:avLst/>
          </a:prstGeom>
          <a:solidFill>
            <a:srgbClr val="B4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Verifiable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201168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23232"/>
                </a:solidFill>
              </a:rPr>
              <a:t>Every voter receives a cryptographic receipt code immediately after voting. Anyone can independently confirm their vote was counted.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463040"/>
            <a:ext cx="2651760" cy="4983480"/>
          </a:xfrm>
          <a:prstGeom prst="rect">
            <a:avLst/>
          </a:prstGeom>
          <a:solidFill>
            <a:srgbClr val="FFFFFF"/>
          </a:solidFill>
          <a:ln w="19050">
            <a:solidFill>
              <a:srgbClr val="641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463040"/>
            <a:ext cx="2651760" cy="411480"/>
          </a:xfrm>
          <a:prstGeom prst="rect">
            <a:avLst/>
          </a:prstGeom>
          <a:solidFill>
            <a:srgbClr val="641E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53144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Accessible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011680"/>
            <a:ext cx="2377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23232"/>
                </a:solidFill>
              </a:rPr>
              <a:t>Fully web-based and mobile-friendly. Students vote from any device and any location during the open election window.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How It Works  —  Student Voting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463040"/>
            <a:ext cx="224028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8992" y="1627632"/>
            <a:ext cx="594360" cy="594360"/>
          </a:xfrm>
          <a:prstGeom prst="ellipse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64592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</a:rPr>
              <a:t>Visit the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907792"/>
            <a:ext cx="1965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E6E6E"/>
                </a:solidFill>
              </a:rPr>
              <a:t>Open the UB eBallot URL on any browser or smartphone.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3472" y="1463040"/>
            <a:ext cx="224028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56432" y="1627632"/>
            <a:ext cx="594360" cy="59436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64592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3087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24912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</a:rPr>
              <a:t>Enter student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2907792"/>
            <a:ext cx="1965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E6E6E"/>
                </a:solidFill>
              </a:rPr>
              <a:t>Type your UB student number. The system verifies it against the registry.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0912" y="1463040"/>
            <a:ext cx="224028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33872" y="1627632"/>
            <a:ext cx="594360" cy="594360"/>
          </a:xfrm>
          <a:prstGeom prst="ellipse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164592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02352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A4A"/>
                </a:solidFill>
              </a:rPr>
              <a:t>Verify via email OTP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8072" y="2907792"/>
            <a:ext cx="1965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E6E6E"/>
                </a:solidFill>
              </a:rPr>
              <a:t>A 6-digit code is sent to your UB email. Enter it to prove your identity.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8352" y="1463040"/>
            <a:ext cx="224028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1312" y="1627632"/>
            <a:ext cx="594360" cy="594360"/>
          </a:xfrm>
          <a:prstGeom prst="ellipse">
            <a:avLst/>
          </a:prstGeom>
          <a:solidFill>
            <a:srgbClr val="00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164592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2B4"/>
                </a:solidFill>
              </a:rPr>
              <a:t>Cast your ballot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2907792"/>
            <a:ext cx="1965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E6E6E"/>
                </a:solidFill>
              </a:rPr>
              <a:t>Select your preferred candidates for each position and submit.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65792" y="1463040"/>
            <a:ext cx="2240280" cy="457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C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88752" y="1627632"/>
            <a:ext cx="594360" cy="594360"/>
          </a:xfrm>
          <a:prstGeom prst="ellipse">
            <a:avLst/>
          </a:prstGeom>
          <a:solidFill>
            <a:srgbClr val="8C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1645920"/>
            <a:ext cx="594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377440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8C1E8C"/>
                </a:solidFill>
              </a:rPr>
              <a:t>Save your receipt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2952" y="2907792"/>
            <a:ext cx="1965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E6E6E"/>
                </a:solidFill>
              </a:rPr>
              <a:t>A unique receipt code is displayed. Keep it to verify your vote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Admin Panel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4C8FF"/>
                </a:solidFill>
              </a:rPr>
              <a:t>Full election management from a secure, role-protected 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63040"/>
            <a:ext cx="26517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63040"/>
            <a:ext cx="2651760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Election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1993392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Create elections with open / close times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670048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Activate or deactivate elections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346704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Add positions and candidates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023360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Publish results when counting is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1463040"/>
            <a:ext cx="26517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27832" y="1463040"/>
            <a:ext cx="2651760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Student Registry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1993392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Import all students from a single CSV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670048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Registry persists across all future elections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46704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Add or deactivate individual entries manually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4023360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No student ID is exposed in any ballot 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35624" y="1463040"/>
            <a:ext cx="26517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35624" y="1463040"/>
            <a:ext cx="2651760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Database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1993392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Live ballot count per election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2670048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Voter turnout statistics at a glance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346704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Full audit log of every admin 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4023360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Privacy confirmation panel built 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43416" y="1463040"/>
            <a:ext cx="2651760" cy="5074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43416" y="1463040"/>
            <a:ext cx="2651760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53144" y="1508760"/>
            <a:ext cx="24323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Security Controls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8008" y="1993392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Argon2id password hashing for the admin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8008" y="2670048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Rate limiting on login and voting routes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8008" y="3346704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Session expires after 30 minutes of inactivity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8008" y="4023360"/>
            <a:ext cx="23042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Dropdown nav reduces accidental exposure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4C8FF"/>
                </a:solidFill>
              </a:rPr>
              <a:t>How anonymity and ballot integrity are technically guaranteed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5486400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Identity ↔ Vote Separation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20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Student number enters the Auth module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786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Auth computes HMAC-SHA256(pepper, student_no:election_id)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3697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Only the anonymous token crosses into the voting module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9534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Student number is deleted from session immediately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Ballot stored with no link to any student identity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7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Even if the database is stolen, votes cannot be traced back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1417320"/>
            <a:ext cx="548640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2512" y="1417320"/>
            <a:ext cx="5486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14630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Ballot Integrity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920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Ballots encrypted with AES-128 (Fernet) before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57860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Each ballot has a SHA-256 chain hash linking to previous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3697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Any tampering with stored ballots immediately breaks the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89534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Admin can verify chain integrity live from the 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5537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Receipt code is SHA-256 hashed — only the voter knows the raw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521207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Verification proves inclusion without revealing who you voted for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417320"/>
            <a:ext cx="224028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" y="1417320"/>
            <a:ext cx="2240280" cy="402336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463040"/>
            <a:ext cx="2029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1938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Python 3 / Flask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2651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SQLAlchemy 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33649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Flask-Mail (OTP delivery)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407822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Gunicorn (production WSGI)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78608" y="1417320"/>
            <a:ext cx="224028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78608" y="1417320"/>
            <a:ext cx="224028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88336" y="1463040"/>
            <a:ext cx="2029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1938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PostgreSQL on Railway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651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SQLite for local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3649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Persistent student registry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07822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Tamper-evident ballot chain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74336" y="1417320"/>
            <a:ext cx="224028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C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74336" y="1417320"/>
            <a:ext cx="2240280" cy="402336"/>
          </a:xfrm>
          <a:prstGeom prst="rect">
            <a:avLst/>
          </a:prstGeom>
          <a:solidFill>
            <a:srgbClr val="8C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4064" y="1463040"/>
            <a:ext cx="2029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Cryptography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1938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AES-128 Fernet (ballots)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8928" y="2651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HMAC-SHA256 (voter tokens)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33649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Argon2id (admin passwords)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928" y="407822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SHA-256 (OTPs + receipts)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70064" y="1417320"/>
            <a:ext cx="224028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4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0064" y="1417320"/>
            <a:ext cx="2240280" cy="402336"/>
          </a:xfrm>
          <a:prstGeom prst="rect">
            <a:avLst/>
          </a:prstGeom>
          <a:solidFill>
            <a:srgbClr val="B46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9792" y="1463040"/>
            <a:ext cx="2029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34656" y="1938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Responsive HTML / CSS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34656" y="2651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Vanilla JavaScript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4656" y="33649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Progressive Web App (PWA)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34656" y="407822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Mobile-first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65792" y="1417320"/>
            <a:ext cx="224028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65792" y="1417320"/>
            <a:ext cx="2240280" cy="402336"/>
          </a:xfrm>
          <a:prstGeom prst="rect">
            <a:avLst/>
          </a:prstGeom>
          <a:solidFill>
            <a:srgbClr val="00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19" y="1463040"/>
            <a:ext cx="20299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0384" y="1938528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Railway (cloud hosting)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0384" y="265176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GitHub (version control)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84" y="33649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Auto-deploy on git push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4078224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▸  Environment-based config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Beta Status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539496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7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39496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✓  Completed in Beta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385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Student authentication via student number + OTP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5973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Anonymous ballot submission with AES-128 encryption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8094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Tamper-evident SHA-256 ballot 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502151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Vote receipt and independent verification page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Full admin dashboard (elections, positions, candidates)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445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Persistent student registry with CSV import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657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Rate limiting and brute-force protection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58698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Mobile-responsive Progressive Web App 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081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✓  Cloud deployment on Railway with PostgreSQL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73952" y="1417320"/>
            <a:ext cx="539496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1417320"/>
            <a:ext cx="5394960" cy="402336"/>
          </a:xfrm>
          <a:prstGeom prst="rect">
            <a:avLst/>
          </a:prstGeom>
          <a:solidFill>
            <a:srgbClr val="C8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14630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→  Production Roadmap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3852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Direct integration with UB student database (API)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2374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SMS OTP fallback for students without email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Two-factor authentication for admin 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6941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Automated daily database backups with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2793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Load testing for the full UB student body (~18 000)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64607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Independent security audit / penetration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49823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Printable results report for official SRC 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0350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23232"/>
                </a:solidFill>
              </a:rPr>
              <a:t>→  Candidate photo upload and manifesto viewer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Anticipated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4C8FF"/>
                </a:solidFill>
              </a:rPr>
              <a:t>UB eBallot  —  Beta Presentation  |  University of Botswana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11521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5389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</a:rPr>
              <a:t>Q:  How do you ensure one vote per student?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23232"/>
                </a:solidFill>
              </a:rPr>
              <a:t>A:  An HMAC-SHA256 token is derived from the student number + election ID. It is stored with a unique DB constraint — a second attempt is rejected even under simultaneous submissions (race-condition safe).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276856"/>
            <a:ext cx="11521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1343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</a:rPr>
              <a:t>Q:  Can the admin see who voted for whom?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6090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23232"/>
                </a:solidFill>
              </a:rPr>
              <a:t>A:  No. The student number never enters the voting module. Ballots are encrypted and linked only to an anonymous token. The admin sees counts only, not individual choices.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136392"/>
            <a:ext cx="11521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7296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</a:rPr>
              <a:t>Q:  What if the server goes down mid-vote?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204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23232"/>
                </a:solidFill>
              </a:rPr>
              <a:t>A:  The ballot and voter token are committed in a single atomic database transaction. If either part fails, both are rolled back — no partial or lost votes.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995928"/>
            <a:ext cx="11521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03250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</a:rPr>
              <a:t>Q:  How does receipt verification work?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79976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23232"/>
                </a:solidFill>
              </a:rPr>
              <a:t>A:  After voting a random receipt code is shown to the student. Its SHA-256 hash is stored with the ballot. The verify page hashes the entered code and confirms it matches a record.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855464"/>
            <a:ext cx="11521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</a:rPr>
              <a:t>Q:  Is the system vulnerable to hacking?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23951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23232"/>
                </a:solidFill>
              </a:rPr>
              <a:t>A:  Rate limiting, CSRF protection, and input sanitisation are applied on all routes. Passwords use Argon2id. Sessions expire after 30 min. The codebase follows OWASP Top-10 guidelines.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715000"/>
            <a:ext cx="115214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751576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3087"/>
                </a:solidFill>
              </a:rPr>
              <a:t>Q:  Why not use ElectionBuddy or a commercial platform?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0990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23232"/>
                </a:solidFill>
              </a:rPr>
              <a:t>A:  Commercial tools have subscription costs, are not tailored to UB student numbers, and store data on foreign servers. UB eBallot is purpose-built, free, and data stays under UB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88952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051560"/>
            <a:ext cx="121889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0604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D700"/>
                </a:solidFill>
              </a:rPr>
              <a:t>Questions &amp;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9476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4D2FF"/>
                </a:solidFill>
              </a:rPr>
              <a:t>UB eBallot  —  Secure  ·  Anonymous  ·  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52628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CAADC"/>
                </a:solidFill>
              </a:rPr>
              <a:t>Deployed on Railway  •  Source: github.com/priscilla-t19/ub-eballot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