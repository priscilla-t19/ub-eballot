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 snapToGrid="0" snapToObjects="1">
      <p:cViewPr>
        <p:scale>
          <a:sx n="84" d="100"/>
          <a:sy n="84" d="100"/>
        </p:scale>
        <p:origin x="156" y="-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2188825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2188825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081" y="4960137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08357" y="4960137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799"/>
            </a:lvl4pPr>
            <a:lvl5pPr marL="1828251" indent="0" algn="ctr">
              <a:buNone/>
              <a:defRPr sz="1799"/>
            </a:lvl5pPr>
            <a:lvl6pPr marL="2285314" indent="0" algn="ctr">
              <a:buNone/>
              <a:defRPr sz="1799"/>
            </a:lvl6pPr>
            <a:lvl7pPr marL="2742377" indent="0" algn="ctr">
              <a:buNone/>
              <a:defRPr sz="1799"/>
            </a:lvl7pPr>
            <a:lvl8pPr marL="3199440" indent="0" algn="ctr">
              <a:buNone/>
              <a:defRPr sz="1799"/>
            </a:lvl8pPr>
            <a:lvl9pPr marL="3656503" indent="0" algn="ctr">
              <a:buNone/>
              <a:defRPr sz="179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4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88825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2188825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4960137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08357" y="4960137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2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861" y="585216"/>
            <a:ext cx="9717541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3860" y="2286000"/>
            <a:ext cx="4753642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7760" y="2286000"/>
            <a:ext cx="4753642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477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861" y="2179636"/>
            <a:ext cx="475364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99" b="0" cap="none" baseline="0">
                <a:solidFill>
                  <a:schemeClr val="accent1"/>
                </a:solidFill>
                <a:latin typeface="+mn-lt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3861" y="2967788"/>
            <a:ext cx="4753642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8" y="2179636"/>
            <a:ext cx="475364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9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marL="0" lvl="0" indent="0" algn="l" defTabSz="914126" rtl="0" eaLnBrk="1" latinLnBrk="0" hangingPunct="1">
              <a:lnSpc>
                <a:spcPct val="90000"/>
              </a:lnSpc>
              <a:spcBef>
                <a:spcPts val="1799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8" y="2967788"/>
            <a:ext cx="4753642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1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418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768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3861" y="471509"/>
            <a:ext cx="4387977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9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2" y="822960"/>
            <a:ext cx="5676945" cy="518464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3861" y="2257506"/>
            <a:ext cx="4387977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15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4960138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5778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8357" y="4960138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23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87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9" y="762000"/>
            <a:ext cx="262821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343" y="762000"/>
            <a:ext cx="7579926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5781" y="59382"/>
            <a:ext cx="0" cy="91416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74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3861" y="585216"/>
            <a:ext cx="9717541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862" y="2286000"/>
            <a:ext cx="971754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3863" y="6470704"/>
            <a:ext cx="215358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1671" y="6470704"/>
            <a:ext cx="589992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4511" y="6470704"/>
            <a:ext cx="9734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1802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98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126" rtl="0" eaLnBrk="1" latinLnBrk="0" hangingPunct="1">
        <a:lnSpc>
          <a:spcPct val="80000"/>
        </a:lnSpc>
        <a:spcBef>
          <a:spcPct val="0"/>
        </a:spcBef>
        <a:buNone/>
        <a:defRPr sz="4999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26509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447922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182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00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12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38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578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04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2572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 dirty="0">
                <a:solidFill>
                  <a:srgbClr val="FFD700"/>
                </a:solidFill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 dirty="0" err="1">
                <a:solidFill>
                  <a:srgbClr val="FFFFFF"/>
                </a:solidFill>
              </a:rPr>
              <a:t>eBallot</a:t>
            </a:r>
            <a:endParaRPr sz="7000" b="1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B4D2FF"/>
                </a:solidFill>
              </a:rPr>
              <a:t>Secure Online Voting for UB SRC Elections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" y="-15421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-87086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65760" y="1412089"/>
            <a:ext cx="11430000" cy="8046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1490472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B41E1E"/>
                </a:solidFill>
              </a:rPr>
              <a:t>Paper </a:t>
            </a:r>
            <a:r>
              <a:rPr sz="1300" b="1" i="0" dirty="0">
                <a:solidFill>
                  <a:srgbClr val="B41E1E"/>
                </a:solidFill>
              </a:rPr>
              <a:t>ballots are 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488075"/>
            <a:ext cx="6492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6E6E6E"/>
                </a:solidFill>
              </a:rPr>
              <a:t>Counting is manual, error-prone, and takes hours after polling closes</a:t>
            </a:r>
            <a:r>
              <a:rPr sz="1200" b="0" i="0" dirty="0">
                <a:solidFill>
                  <a:srgbClr val="6E6E6E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59152"/>
            <a:ext cx="11430000" cy="8046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94360" y="2404872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B41E1E"/>
                </a:solidFill>
              </a:rPr>
              <a:t> </a:t>
            </a:r>
            <a:r>
              <a:rPr sz="1300" b="1" i="0" dirty="0">
                <a:solidFill>
                  <a:srgbClr val="B41E1E"/>
                </a:solidFill>
              </a:rPr>
              <a:t>No way to verify your vote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404872"/>
            <a:ext cx="6492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6E6E6E"/>
                </a:solidFill>
              </a:rPr>
              <a:t>Once a ballot is in the box there is no receipt and no way to confirm it was counted</a:t>
            </a:r>
            <a:r>
              <a:rPr sz="1200" b="0" i="0" dirty="0">
                <a:solidFill>
                  <a:srgbClr val="6E6E6E"/>
                </a:solidFill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" y="3296412"/>
            <a:ext cx="11430000" cy="8046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94360" y="3515755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B41E1E"/>
                </a:solidFill>
              </a:rPr>
              <a:t>  </a:t>
            </a:r>
            <a:r>
              <a:rPr sz="1300" b="1" i="0" dirty="0">
                <a:solidFill>
                  <a:srgbClr val="B41E1E"/>
                </a:solidFill>
              </a:rPr>
              <a:t>Low turnout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456993"/>
            <a:ext cx="6492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6E6E6E"/>
                </a:solidFill>
              </a:rPr>
              <a:t>Students must be physically present on </a:t>
            </a:r>
            <a:r>
              <a:rPr sz="1600" b="0" i="0" dirty="0" smtClean="0">
                <a:solidFill>
                  <a:srgbClr val="6E6E6E"/>
                </a:solidFill>
              </a:rPr>
              <a:t>campus</a:t>
            </a:r>
            <a:r>
              <a:rPr lang="en-GB" sz="1200" b="0" i="0" dirty="0" smtClean="0">
                <a:solidFill>
                  <a:srgbClr val="6E6E6E"/>
                </a:solidFill>
              </a:rPr>
              <a:t>.</a:t>
            </a:r>
            <a:endParaRPr sz="1200" b="0" i="0" dirty="0">
              <a:solidFill>
                <a:srgbClr val="6E6E6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93896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The Solution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65176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65176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29768" y="150876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377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End-to-end AES-128 encryption. Student numbers are never stored alongside votes. Every admin action is logged in an audit trail.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1463040"/>
            <a:ext cx="265176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3227832" y="1463040"/>
            <a:ext cx="265176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337560" y="150876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Anonymous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011680"/>
            <a:ext cx="2377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Votes are separated from identity using a one-way HMAC-SHA256 token. Not even administrators can link a ballot to a specific voter</a:t>
            </a:r>
            <a:r>
              <a:rPr sz="1200" b="0" i="0" dirty="0">
                <a:solidFill>
                  <a:srgbClr val="323232"/>
                </a:solidFill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1463040"/>
            <a:ext cx="265176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6135624" y="1463040"/>
            <a:ext cx="2651760" cy="411480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245352" y="150876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Verifiable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011680"/>
            <a:ext cx="2377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Every voter receives a cryptographic receipt code immediately after voting. Anyone can independently confirm their vote was counted</a:t>
            </a:r>
            <a:r>
              <a:rPr sz="1200" b="0" i="0" dirty="0">
                <a:solidFill>
                  <a:srgbClr val="323232"/>
                </a:solidFill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463040"/>
            <a:ext cx="265176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41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9043416" y="1463040"/>
            <a:ext cx="2651760" cy="411480"/>
          </a:xfrm>
          <a:prstGeom prst="rect">
            <a:avLst/>
          </a:prstGeom>
          <a:solidFill>
            <a:srgbClr val="641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9153144" y="150876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Accessible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011680"/>
            <a:ext cx="2377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Fully web-based and mobile-friendly. Students vote from any device and any location during the open election window.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How It </a:t>
            </a:r>
            <a:r>
              <a:rPr sz="2800" b="1" i="0" dirty="0" smtClean="0">
                <a:solidFill>
                  <a:srgbClr val="FFFFFF"/>
                </a:solidFill>
              </a:rPr>
              <a:t>Works</a:t>
            </a:r>
            <a:r>
              <a:rPr lang="en-GB" sz="2800" b="1" i="0" dirty="0" smtClean="0">
                <a:solidFill>
                  <a:srgbClr val="FFFFFF"/>
                </a:solidFill>
              </a:rPr>
              <a:t>,</a:t>
            </a:r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Student Voting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22402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1078992" y="1627632"/>
            <a:ext cx="594360" cy="59436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377440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3087"/>
                </a:solidFill>
              </a:rPr>
              <a:t>Visit the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907792"/>
            <a:ext cx="1965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6E6E6E"/>
                </a:solidFill>
              </a:rPr>
              <a:t>Open the UB </a:t>
            </a:r>
            <a:r>
              <a:rPr sz="1600" b="0" i="0" dirty="0" err="1">
                <a:solidFill>
                  <a:srgbClr val="6E6E6E"/>
                </a:solidFill>
              </a:rPr>
              <a:t>eBallot</a:t>
            </a:r>
            <a:r>
              <a:rPr sz="1600" b="0" i="0" dirty="0">
                <a:solidFill>
                  <a:srgbClr val="6E6E6E"/>
                </a:solidFill>
              </a:rPr>
              <a:t> URL on any browser or smartphone.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463040"/>
            <a:ext cx="22402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3456432" y="1627632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456432" y="1645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03087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377440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D700"/>
                </a:solidFill>
              </a:rPr>
              <a:t>Enter student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907792"/>
            <a:ext cx="1965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6E6E6E"/>
                </a:solidFill>
              </a:rPr>
              <a:t>Type your UB student number. The system verifies it against the registry.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463040"/>
            <a:ext cx="22402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5833872" y="1627632"/>
            <a:ext cx="594360" cy="594360"/>
          </a:xfrm>
          <a:prstGeom prst="ellipse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833872" y="1645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377440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1A7A4A"/>
                </a:solidFill>
              </a:rPr>
              <a:t>Verify via email OTP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907792"/>
            <a:ext cx="1965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6E6E6E"/>
                </a:solidFill>
              </a:rPr>
              <a:t>A 6-digit code is sent to your UB email. Enter it to prove your identity.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8352" y="1463040"/>
            <a:ext cx="22402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Oval 23"/>
          <p:cNvSpPr/>
          <p:nvPr/>
        </p:nvSpPr>
        <p:spPr>
          <a:xfrm>
            <a:off x="8211312" y="1627632"/>
            <a:ext cx="594360" cy="594360"/>
          </a:xfrm>
          <a:prstGeom prst="ellipse">
            <a:avLst/>
          </a:prstGeom>
          <a:solidFill>
            <a:srgbClr val="00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211312" y="1645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377440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82B4"/>
                </a:solidFill>
              </a:rPr>
              <a:t>Cast your ballot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2907792"/>
            <a:ext cx="1965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6E6E6E"/>
                </a:solidFill>
              </a:rPr>
              <a:t>Select your preferred candidates for each position and submit.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5792" y="1463040"/>
            <a:ext cx="22402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C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Oval 28"/>
          <p:cNvSpPr/>
          <p:nvPr/>
        </p:nvSpPr>
        <p:spPr>
          <a:xfrm>
            <a:off x="10588752" y="1627632"/>
            <a:ext cx="594360" cy="594360"/>
          </a:xfrm>
          <a:prstGeom prst="ellipse">
            <a:avLst/>
          </a:prstGeom>
          <a:solidFill>
            <a:srgbClr val="8C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0588752" y="1645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377440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8C1E8C"/>
                </a:solidFill>
              </a:rPr>
              <a:t>Save your receipt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2907792"/>
            <a:ext cx="1965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6E6E6E"/>
                </a:solidFill>
              </a:rPr>
              <a:t>A unique receipt code is displayed. Keep it to verify your vote later.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0320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Admin Panel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6517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65176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65760" y="1467249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Election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93392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Create </a:t>
            </a:r>
            <a:r>
              <a:rPr sz="1600" b="0" i="0" dirty="0">
                <a:solidFill>
                  <a:srgbClr val="323232"/>
                </a:solidFill>
              </a:rPr>
              <a:t>elections with open / close times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670048"/>
            <a:ext cx="2304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Activate or deactivate elections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46704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Add positions and candidates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023360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Publish results when counting is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1463040"/>
            <a:ext cx="26517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3227832" y="1463040"/>
            <a:ext cx="265176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337560" y="150876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Student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1993392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Import all students from a single CSV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670048"/>
            <a:ext cx="22494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Registry persists across all future </a:t>
            </a:r>
            <a:r>
              <a:rPr sz="1600" b="0" i="0" dirty="0" smtClean="0">
                <a:solidFill>
                  <a:srgbClr val="323232"/>
                </a:solidFill>
              </a:rPr>
              <a:t>elections</a:t>
            </a:r>
            <a:endParaRPr lang="en-GB" sz="1600" b="0" i="0" dirty="0" smtClean="0">
              <a:solidFill>
                <a:srgbClr val="323232"/>
              </a:solidFill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sz="1600" b="0" i="0" dirty="0">
              <a:solidFill>
                <a:srgbClr val="32323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92424" y="3346704"/>
            <a:ext cx="23042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Add or deactivate individual entries </a:t>
            </a:r>
            <a:r>
              <a:rPr sz="1600" b="0" i="0" dirty="0" smtClean="0">
                <a:solidFill>
                  <a:srgbClr val="323232"/>
                </a:solidFill>
              </a:rPr>
              <a:t>manually</a:t>
            </a:r>
            <a:endParaRPr lang="en-GB" sz="1600" b="0" i="0" dirty="0" smtClean="0">
              <a:solidFill>
                <a:srgbClr val="323232"/>
              </a:solidFill>
            </a:endParaRPr>
          </a:p>
          <a:p>
            <a:pPr algn="l"/>
            <a:endParaRPr lang="en-GB" sz="1600" b="0" i="0" dirty="0" smtClean="0">
              <a:solidFill>
                <a:srgbClr val="323232"/>
              </a:solidFill>
            </a:endParaRPr>
          </a:p>
          <a:p>
            <a:pPr algn="l"/>
            <a:endParaRPr sz="1600" b="0" i="0" dirty="0">
              <a:solidFill>
                <a:srgbClr val="32323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37560" y="4167223"/>
            <a:ext cx="2304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No student ID is exposed in any ballot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5624" y="1463040"/>
            <a:ext cx="26517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6135624" y="1463040"/>
            <a:ext cx="265176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245352" y="150876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Database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1993392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Live ballot count per 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2670048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Voter </a:t>
            </a:r>
            <a:r>
              <a:rPr sz="1600" b="0" i="0" dirty="0">
                <a:solidFill>
                  <a:srgbClr val="323232"/>
                </a:solidFill>
              </a:rPr>
              <a:t>turnout statistics at a glance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346704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Full </a:t>
            </a:r>
            <a:r>
              <a:rPr sz="1600" b="0" i="0" dirty="0">
                <a:solidFill>
                  <a:srgbClr val="323232"/>
                </a:solidFill>
              </a:rPr>
              <a:t>audit log of every admin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4023360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sz="11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Privacy confirmation panel built 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3416" y="1463040"/>
            <a:ext cx="26517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9043416" y="1463040"/>
            <a:ext cx="265176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9079992" y="150876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Security Controls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8008" y="1993392"/>
            <a:ext cx="2304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GB" sz="1100" dirty="0" smtClean="0">
                <a:solidFill>
                  <a:srgbClr val="323232"/>
                </a:solidFill>
              </a:rPr>
              <a:t>  </a:t>
            </a:r>
            <a:r>
              <a:rPr sz="1600" b="0" i="0" dirty="0" smtClean="0">
                <a:solidFill>
                  <a:srgbClr val="323232"/>
                </a:solidFill>
              </a:rPr>
              <a:t>Argon2id </a:t>
            </a:r>
            <a:r>
              <a:rPr sz="1600" b="0" i="0" dirty="0">
                <a:solidFill>
                  <a:srgbClr val="323232"/>
                </a:solidFill>
              </a:rPr>
              <a:t>password hashing for the admin account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8" y="2670048"/>
            <a:ext cx="2304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Rate limiting on login and voting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3346704"/>
            <a:ext cx="2304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Session expires after 30 minutes of </a:t>
            </a:r>
            <a:r>
              <a:rPr sz="1600" b="0" i="0" dirty="0" smtClean="0">
                <a:solidFill>
                  <a:srgbClr val="323232"/>
                </a:solidFill>
              </a:rPr>
              <a:t>inactivity</a:t>
            </a:r>
            <a:endParaRPr lang="en-GB" sz="1600" b="0" i="0" dirty="0" smtClean="0">
              <a:solidFill>
                <a:srgbClr val="323232"/>
              </a:solidFill>
            </a:endParaRPr>
          </a:p>
          <a:p>
            <a:pPr marL="171450" indent="-171450" algn="l">
              <a:buFont typeface="Courier New" panose="02070309020205020404" pitchFamily="49" charset="0"/>
              <a:buChar char="o"/>
            </a:pPr>
            <a:endParaRPr sz="1600" b="0" i="0" dirty="0">
              <a:solidFill>
                <a:srgbClr val="323232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08008" y="4023360"/>
            <a:ext cx="2487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Dropdown </a:t>
            </a:r>
            <a:r>
              <a:rPr sz="1600" b="0" i="0" dirty="0" err="1">
                <a:solidFill>
                  <a:srgbClr val="323232"/>
                </a:solidFill>
              </a:rPr>
              <a:t>nav</a:t>
            </a:r>
            <a:r>
              <a:rPr sz="1600" b="0" i="0" dirty="0">
                <a:solidFill>
                  <a:srgbClr val="323232"/>
                </a:solidFill>
              </a:rPr>
              <a:t> reduces accidental </a:t>
            </a:r>
            <a:r>
              <a:rPr sz="1600" b="0" i="0" dirty="0" smtClean="0">
                <a:solidFill>
                  <a:srgbClr val="323232"/>
                </a:solidFill>
              </a:rPr>
              <a:t>exposure</a:t>
            </a:r>
            <a:endParaRPr sz="1600" b="0" i="0" dirty="0">
              <a:solidFill>
                <a:srgbClr val="32323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B4C8FF"/>
                </a:solidFill>
              </a:rPr>
              <a:t>How anonymity and ballot integrity are technically guaranteed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B4C8FF"/>
                </a:solidFill>
              </a:rPr>
              <a:t>UB 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48640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65760" y="14401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Identity ↔ Vote Separation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4767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</a:t>
            </a:r>
            <a:r>
              <a:rPr sz="1100" b="0" i="0" dirty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Student number enters the </a:t>
            </a:r>
            <a:r>
              <a:rPr sz="1600" b="0" i="0" dirty="0" err="1">
                <a:solidFill>
                  <a:srgbClr val="323232"/>
                </a:solidFill>
              </a:rPr>
              <a:t>Auth</a:t>
            </a:r>
            <a:r>
              <a:rPr sz="1600" b="0" i="0" dirty="0">
                <a:solidFill>
                  <a:srgbClr val="323232"/>
                </a:solidFill>
              </a:rPr>
              <a:t> module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</a:t>
            </a:r>
            <a:r>
              <a:rPr sz="1600" b="0" i="0" dirty="0" err="1">
                <a:solidFill>
                  <a:srgbClr val="323232"/>
                </a:solidFill>
              </a:rPr>
              <a:t>Auth</a:t>
            </a:r>
            <a:r>
              <a:rPr sz="1600" b="0" i="0" dirty="0">
                <a:solidFill>
                  <a:srgbClr val="323232"/>
                </a:solidFill>
              </a:rPr>
              <a:t> computes </a:t>
            </a:r>
            <a:r>
              <a:rPr sz="1600" b="0" i="0" dirty="0" smtClean="0">
                <a:solidFill>
                  <a:srgbClr val="323232"/>
                </a:solidFill>
              </a:rPr>
              <a:t>HMAC-SHA256</a:t>
            </a:r>
            <a:endParaRPr sz="1100" b="0" i="0" dirty="0">
              <a:solidFill>
                <a:srgbClr val="32323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277755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Only the anonymous token crosses into the voting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731" y="4017925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Student number is deleted from session immediately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5371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Ballot stored with no link to any student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731" y="5232545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Even if the database is stolen, votes cannot be traced 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141732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382512" y="1417320"/>
            <a:ext cx="5486400" cy="40233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92240" y="144896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Ballot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920240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Ballots encrypted with AES-128 (</a:t>
            </a:r>
            <a:r>
              <a:rPr sz="1600" b="0" i="0" dirty="0" err="1">
                <a:solidFill>
                  <a:srgbClr val="323232"/>
                </a:solidFill>
              </a:rPr>
              <a:t>Fernet</a:t>
            </a:r>
            <a:r>
              <a:rPr sz="1600" b="0" i="0" dirty="0">
                <a:solidFill>
                  <a:srgbClr val="323232"/>
                </a:solidFill>
              </a:rPr>
              <a:t>) before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7860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Each ballot has a SHA-256 chain hash linking to previous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36976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Any tampering with stored ballots immediately breaks the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895344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Admin can verify chain integrity live from the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53712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Receipt code is SHA-256 hashed — only the voter knows the raw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212079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23232"/>
                </a:solidFill>
              </a:rPr>
              <a:t>✓  Verification proves inclusion without revealing who you voted for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82880" y="1417320"/>
            <a:ext cx="22402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82880" y="1417320"/>
            <a:ext cx="224028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92608" y="146304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938528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Python 3 / 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113" y="2658509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err="1" smtClean="0">
                <a:solidFill>
                  <a:srgbClr val="323232"/>
                </a:solidFill>
              </a:rPr>
              <a:t>SQLAlchemy</a:t>
            </a: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364992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Flask-Mail (OTP delivery)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1417320"/>
            <a:ext cx="22402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2578608" y="1417320"/>
            <a:ext cx="2240280" cy="40233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2688336" y="146304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1927966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PostgreSQL on Railway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6517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SQLite for local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364992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Persistent student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78224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Tamper-evident </a:t>
            </a:r>
            <a:r>
              <a:rPr sz="1600" b="0" i="0" dirty="0">
                <a:solidFill>
                  <a:srgbClr val="323232"/>
                </a:solidFill>
              </a:rPr>
              <a:t>ballot chain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4336" y="1417320"/>
            <a:ext cx="22402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C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4974336" y="1417320"/>
            <a:ext cx="2240280" cy="402336"/>
          </a:xfrm>
          <a:prstGeom prst="rect">
            <a:avLst/>
          </a:prstGeom>
          <a:solidFill>
            <a:srgbClr val="8C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5084064" y="146304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Cryptography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1938528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AES-128 </a:t>
            </a:r>
            <a:r>
              <a:rPr sz="1600" b="0" i="0" dirty="0" err="1">
                <a:solidFill>
                  <a:srgbClr val="323232"/>
                </a:solidFill>
              </a:rPr>
              <a:t>Fernet</a:t>
            </a:r>
            <a:r>
              <a:rPr sz="1600" b="0" i="0" dirty="0">
                <a:solidFill>
                  <a:srgbClr val="323232"/>
                </a:solidFill>
              </a:rPr>
              <a:t> (ballots)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6517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HMAC-SHA256 </a:t>
            </a:r>
            <a:r>
              <a:rPr sz="1600" b="0" i="0" dirty="0">
                <a:solidFill>
                  <a:srgbClr val="323232"/>
                </a:solidFill>
              </a:rPr>
              <a:t>(voter tokens)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3364992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Argon2id </a:t>
            </a:r>
            <a:r>
              <a:rPr sz="1600" b="0" i="0" dirty="0">
                <a:solidFill>
                  <a:srgbClr val="323232"/>
                </a:solidFill>
              </a:rPr>
              <a:t>(admin passwords)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078224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SHA-256 </a:t>
            </a:r>
            <a:r>
              <a:rPr sz="1600" b="0" i="0" dirty="0">
                <a:solidFill>
                  <a:srgbClr val="323232"/>
                </a:solidFill>
              </a:rPr>
              <a:t>(OTPs + receipts</a:t>
            </a:r>
            <a:r>
              <a:rPr sz="1100" b="0" i="0" dirty="0">
                <a:solidFill>
                  <a:srgbClr val="323232"/>
                </a:solidFill>
              </a:rPr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0064" y="1417320"/>
            <a:ext cx="22402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7370064" y="1417320"/>
            <a:ext cx="2240280" cy="402336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7479792" y="146304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0084" y="2009821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Responsive HTML / CSS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884415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</a:t>
            </a:r>
            <a:r>
              <a:rPr sz="1600" b="0" i="0" dirty="0">
                <a:solidFill>
                  <a:srgbClr val="323232"/>
                </a:solidFill>
              </a:rPr>
              <a:t>Progressive Web App (PWA)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698625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sz="11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Mobile-first design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65792" y="1417320"/>
            <a:ext cx="22402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9765792" y="1417320"/>
            <a:ext cx="2240280" cy="402336"/>
          </a:xfrm>
          <a:prstGeom prst="rect">
            <a:avLst/>
          </a:prstGeom>
          <a:solidFill>
            <a:srgbClr val="00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9875519" y="146304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0384" y="1938528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Railway (cloud hosting)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30384" y="26517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600" b="0" i="0" dirty="0" smtClean="0">
                <a:solidFill>
                  <a:srgbClr val="323232"/>
                </a:solidFill>
              </a:rPr>
              <a:t>GitHub </a:t>
            </a:r>
            <a:r>
              <a:rPr sz="1600" b="0" i="0" dirty="0">
                <a:solidFill>
                  <a:srgbClr val="323232"/>
                </a:solidFill>
              </a:rPr>
              <a:t>(version control</a:t>
            </a:r>
            <a:r>
              <a:rPr sz="1100" b="0" i="0" dirty="0">
                <a:solidFill>
                  <a:srgbClr val="323232"/>
                </a:solidFill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5812" y="3468409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smtClean="0">
                <a:solidFill>
                  <a:srgbClr val="323232"/>
                </a:solidFill>
              </a:rPr>
              <a:t>  </a:t>
            </a:r>
            <a:r>
              <a:rPr sz="1600" b="0" i="0" dirty="0">
                <a:solidFill>
                  <a:srgbClr val="323232"/>
                </a:solidFill>
              </a:rPr>
              <a:t>Auto-deploy on </a:t>
            </a:r>
            <a:r>
              <a:rPr sz="1600" b="0" i="0" dirty="0" err="1">
                <a:solidFill>
                  <a:srgbClr val="323232"/>
                </a:solidFill>
              </a:rPr>
              <a:t>git</a:t>
            </a:r>
            <a:r>
              <a:rPr sz="1600" b="0" i="0" dirty="0">
                <a:solidFill>
                  <a:srgbClr val="323232"/>
                </a:solidFill>
              </a:rPr>
              <a:t> push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105156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 dirty="0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1460</TotalTime>
  <Words>601</Words>
  <Application>Microsoft Office PowerPoint</Application>
  <PresentationFormat>Custom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Courier New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Botsheleng,Priscilla</cp:lastModifiedBy>
  <cp:revision>28</cp:revision>
  <dcterms:created xsi:type="dcterms:W3CDTF">2013-01-27T09:14:16Z</dcterms:created>
  <dcterms:modified xsi:type="dcterms:W3CDTF">2026-04-15T10:11:06Z</dcterms:modified>
  <cp:category/>
</cp:coreProperties>
</file>